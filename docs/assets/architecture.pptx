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9144000" cy="7561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91EB"/>
    <a:srgbClr val="FFD337"/>
    <a:srgbClr val="FFEDB3"/>
    <a:srgbClr val="FFF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2"/>
    <p:restoredTop sz="94643"/>
  </p:normalViewPr>
  <p:slideViewPr>
    <p:cSldViewPr snapToGrid="0">
      <p:cViewPr varScale="1">
        <p:scale>
          <a:sx n="167" d="100"/>
          <a:sy n="167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7457"/>
            <a:ext cx="7772400" cy="263244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1415"/>
            <a:ext cx="6858000" cy="18255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3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3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885068"/>
            <a:ext cx="7886700" cy="31452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060097"/>
            <a:ext cx="7886700" cy="16540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2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012836"/>
            <a:ext cx="3886200" cy="479755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012836"/>
            <a:ext cx="3886200" cy="479755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2569"/>
            <a:ext cx="7886700" cy="1461495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60"/>
            <a:ext cx="3868340" cy="9084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761962"/>
            <a:ext cx="3868340" cy="406242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853560"/>
            <a:ext cx="3887391" cy="9084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2761962"/>
            <a:ext cx="3887391" cy="406242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9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2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4084"/>
            <a:ext cx="2949178" cy="176429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8683"/>
            <a:ext cx="4629150" cy="537339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68380"/>
            <a:ext cx="2949178" cy="420245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0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4084"/>
            <a:ext cx="2949178" cy="176429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88683"/>
            <a:ext cx="4629150" cy="5373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68380"/>
            <a:ext cx="2949178" cy="420245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1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58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02568"/>
            <a:ext cx="1971675" cy="64078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3" y="402568"/>
            <a:ext cx="5800725" cy="640782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8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02569"/>
            <a:ext cx="7886700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12836"/>
            <a:ext cx="7886700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7008172"/>
            <a:ext cx="2057400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E6B3F-463D-6F44-8A03-5425760B06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7008172"/>
            <a:ext cx="3086100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7008172"/>
            <a:ext cx="2057400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A677F-F871-184C-9D52-FB4C911B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3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rostokąt 240">
            <a:extLst>
              <a:ext uri="{FF2B5EF4-FFF2-40B4-BE49-F238E27FC236}">
                <a16:creationId xmlns:a16="http://schemas.microsoft.com/office/drawing/2014/main" id="{76779AB2-09A4-03D8-FE48-E60CF95DCA41}"/>
              </a:ext>
            </a:extLst>
          </p:cNvPr>
          <p:cNvSpPr/>
          <p:nvPr/>
        </p:nvSpPr>
        <p:spPr>
          <a:xfrm>
            <a:off x="8714" y="5616000"/>
            <a:ext cx="9115879" cy="192599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Prostokąt 213">
            <a:extLst>
              <a:ext uri="{FF2B5EF4-FFF2-40B4-BE49-F238E27FC236}">
                <a16:creationId xmlns:a16="http://schemas.microsoft.com/office/drawing/2014/main" id="{32444D13-381B-E02D-E69B-CCC9D02F7312}"/>
              </a:ext>
            </a:extLst>
          </p:cNvPr>
          <p:cNvSpPr/>
          <p:nvPr/>
        </p:nvSpPr>
        <p:spPr>
          <a:xfrm>
            <a:off x="8709" y="4320000"/>
            <a:ext cx="5838420" cy="125839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Prostokąt zaokrąglony 207">
            <a:extLst>
              <a:ext uri="{FF2B5EF4-FFF2-40B4-BE49-F238E27FC236}">
                <a16:creationId xmlns:a16="http://schemas.microsoft.com/office/drawing/2014/main" id="{CE190A0D-5C40-ECA0-F845-D6595C6AF6A1}"/>
              </a:ext>
            </a:extLst>
          </p:cNvPr>
          <p:cNvSpPr/>
          <p:nvPr/>
        </p:nvSpPr>
        <p:spPr>
          <a:xfrm>
            <a:off x="7115029" y="3088092"/>
            <a:ext cx="1960577" cy="9500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Prostokąt 200">
            <a:extLst>
              <a:ext uri="{FF2B5EF4-FFF2-40B4-BE49-F238E27FC236}">
                <a16:creationId xmlns:a16="http://schemas.microsoft.com/office/drawing/2014/main" id="{5680C27D-57E1-21B9-C629-61FC91F8CE47}"/>
              </a:ext>
            </a:extLst>
          </p:cNvPr>
          <p:cNvSpPr/>
          <p:nvPr/>
        </p:nvSpPr>
        <p:spPr>
          <a:xfrm>
            <a:off x="8709" y="556565"/>
            <a:ext cx="5836478" cy="37298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upa 25">
            <a:extLst>
              <a:ext uri="{FF2B5EF4-FFF2-40B4-BE49-F238E27FC236}">
                <a16:creationId xmlns:a16="http://schemas.microsoft.com/office/drawing/2014/main" id="{79CF6461-122A-A65D-F978-EE8CFB21F71F}"/>
              </a:ext>
            </a:extLst>
          </p:cNvPr>
          <p:cNvGrpSpPr/>
          <p:nvPr/>
        </p:nvGrpSpPr>
        <p:grpSpPr>
          <a:xfrm>
            <a:off x="2894934" y="1512892"/>
            <a:ext cx="2801534" cy="1034148"/>
            <a:chOff x="2957945" y="58882"/>
            <a:chExt cx="2801534" cy="1034148"/>
          </a:xfrm>
        </p:grpSpPr>
        <p:grpSp>
          <p:nvGrpSpPr>
            <p:cNvPr id="9" name="Grupa 8">
              <a:extLst>
                <a:ext uri="{FF2B5EF4-FFF2-40B4-BE49-F238E27FC236}">
                  <a16:creationId xmlns:a16="http://schemas.microsoft.com/office/drawing/2014/main" id="{9A7254A8-8226-309D-7321-047E42155A33}"/>
                </a:ext>
              </a:extLst>
            </p:cNvPr>
            <p:cNvGrpSpPr/>
            <p:nvPr/>
          </p:nvGrpSpPr>
          <p:grpSpPr>
            <a:xfrm>
              <a:off x="2957945" y="58882"/>
              <a:ext cx="2801534" cy="1034148"/>
              <a:chOff x="3380509" y="367146"/>
              <a:chExt cx="2556164" cy="1211751"/>
            </a:xfrm>
          </p:grpSpPr>
          <p:sp>
            <p:nvSpPr>
              <p:cNvPr id="7" name="Prostokąt 6">
                <a:extLst>
                  <a:ext uri="{FF2B5EF4-FFF2-40B4-BE49-F238E27FC236}">
                    <a16:creationId xmlns:a16="http://schemas.microsoft.com/office/drawing/2014/main" id="{289CA5F3-23F3-0985-F67E-79393F174F4F}"/>
                  </a:ext>
                </a:extLst>
              </p:cNvPr>
              <p:cNvSpPr/>
              <p:nvPr/>
            </p:nvSpPr>
            <p:spPr>
              <a:xfrm>
                <a:off x="3380509" y="568037"/>
                <a:ext cx="2556164" cy="101086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Executors</a:t>
                </a:r>
              </a:p>
            </p:txBody>
          </p:sp>
          <p:sp>
            <p:nvSpPr>
              <p:cNvPr id="8" name="Prostokąt 7">
                <a:extLst>
                  <a:ext uri="{FF2B5EF4-FFF2-40B4-BE49-F238E27FC236}">
                    <a16:creationId xmlns:a16="http://schemas.microsoft.com/office/drawing/2014/main" id="{3C38B8A3-59C9-981E-B9AE-D5ABB4FB700A}"/>
                  </a:ext>
                </a:extLst>
              </p:cNvPr>
              <p:cNvSpPr/>
              <p:nvPr/>
            </p:nvSpPr>
            <p:spPr>
              <a:xfrm>
                <a:off x="3380509" y="367146"/>
                <a:ext cx="2556164" cy="23096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run_benchmark.py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Grupa 14">
              <a:extLst>
                <a:ext uri="{FF2B5EF4-FFF2-40B4-BE49-F238E27FC236}">
                  <a16:creationId xmlns:a16="http://schemas.microsoft.com/office/drawing/2014/main" id="{7B86FAF9-62AD-95B0-75A6-B4C54E64867D}"/>
                </a:ext>
              </a:extLst>
            </p:cNvPr>
            <p:cNvGrpSpPr/>
            <p:nvPr/>
          </p:nvGrpSpPr>
          <p:grpSpPr>
            <a:xfrm>
              <a:off x="3028161" y="492251"/>
              <a:ext cx="845127" cy="519546"/>
              <a:chOff x="3480166" y="803978"/>
              <a:chExt cx="845127" cy="519546"/>
            </a:xfrm>
          </p:grpSpPr>
          <p:sp>
            <p:nvSpPr>
              <p:cNvPr id="11" name="Prostokąt 10">
                <a:extLst>
                  <a:ext uri="{FF2B5EF4-FFF2-40B4-BE49-F238E27FC236}">
                    <a16:creationId xmlns:a16="http://schemas.microsoft.com/office/drawing/2014/main" id="{A7682A65-D997-137F-BD0F-595EA2BC3F86}"/>
                  </a:ext>
                </a:extLst>
              </p:cNvPr>
              <p:cNvSpPr/>
              <p:nvPr/>
            </p:nvSpPr>
            <p:spPr>
              <a:xfrm>
                <a:off x="3480166" y="803978"/>
                <a:ext cx="845127" cy="51954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tIns="36000" rIns="0" bIns="36000"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Slurm workload manager</a:t>
                </a:r>
              </a:p>
            </p:txBody>
          </p:sp>
          <p:pic>
            <p:nvPicPr>
              <p:cNvPr id="14" name="Grafika 13" descr="Sieć z wypełnieniem pełnym">
                <a:extLst>
                  <a:ext uri="{FF2B5EF4-FFF2-40B4-BE49-F238E27FC236}">
                    <a16:creationId xmlns:a16="http://schemas.microsoft.com/office/drawing/2014/main" id="{9D9FAB8D-4038-12BC-46ED-D196AC781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480166" y="903285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17" name="Prostokąt 16">
              <a:extLst>
                <a:ext uri="{FF2B5EF4-FFF2-40B4-BE49-F238E27FC236}">
                  <a16:creationId xmlns:a16="http://schemas.microsoft.com/office/drawing/2014/main" id="{C536E05C-24B7-17C7-FDDC-0185194A3EC7}"/>
                </a:ext>
              </a:extLst>
            </p:cNvPr>
            <p:cNvSpPr/>
            <p:nvPr/>
          </p:nvSpPr>
          <p:spPr>
            <a:xfrm>
              <a:off x="3941616" y="494274"/>
              <a:ext cx="845127" cy="5195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1999" tIns="36000" rIns="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Process pool </a:t>
              </a:r>
            </a:p>
          </p:txBody>
        </p:sp>
        <p:sp>
          <p:nvSpPr>
            <p:cNvPr id="19" name="Prostokąt 18">
              <a:extLst>
                <a:ext uri="{FF2B5EF4-FFF2-40B4-BE49-F238E27FC236}">
                  <a16:creationId xmlns:a16="http://schemas.microsoft.com/office/drawing/2014/main" id="{9888979B-6E82-82B7-7BC1-929368980627}"/>
                </a:ext>
              </a:extLst>
            </p:cNvPr>
            <p:cNvSpPr/>
            <p:nvPr/>
          </p:nvSpPr>
          <p:spPr>
            <a:xfrm>
              <a:off x="4848150" y="494274"/>
              <a:ext cx="845127" cy="5195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36000" rIns="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Single thread 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800" dirty="0">
                  <a:solidFill>
                    <a:schemeClr val="tx1"/>
                  </a:solidFill>
                </a:rPr>
                <a:t>(for debugging)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21" name="Grafika 20" descr="Strzałka okrężna z wypełnieniem pełnym">
              <a:extLst>
                <a:ext uri="{FF2B5EF4-FFF2-40B4-BE49-F238E27FC236}">
                  <a16:creationId xmlns:a16="http://schemas.microsoft.com/office/drawing/2014/main" id="{8BBC137D-ED8E-A568-FAA2-152A3AB773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12569" y="568754"/>
              <a:ext cx="360000" cy="360000"/>
            </a:xfrm>
            <a:prstGeom prst="rect">
              <a:avLst/>
            </a:prstGeom>
          </p:spPr>
        </p:pic>
        <p:pic>
          <p:nvPicPr>
            <p:cNvPr id="25" name="Grafika 24" descr="Strzałka: zakrzywiona w lewo z wypełnieniem pełnym">
              <a:extLst>
                <a:ext uri="{FF2B5EF4-FFF2-40B4-BE49-F238E27FC236}">
                  <a16:creationId xmlns:a16="http://schemas.microsoft.com/office/drawing/2014/main" id="{250E9CA8-298E-7158-5CE4-398D6AED4C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6971" y="603967"/>
              <a:ext cx="288000" cy="288000"/>
            </a:xfrm>
            <a:prstGeom prst="rect">
              <a:avLst/>
            </a:prstGeom>
          </p:spPr>
        </p:pic>
      </p:grpSp>
      <p:grpSp>
        <p:nvGrpSpPr>
          <p:cNvPr id="27" name="Grupa 26">
            <a:extLst>
              <a:ext uri="{FF2B5EF4-FFF2-40B4-BE49-F238E27FC236}">
                <a16:creationId xmlns:a16="http://schemas.microsoft.com/office/drawing/2014/main" id="{47454447-E1CD-9802-0CC0-57B175A85AE9}"/>
              </a:ext>
            </a:extLst>
          </p:cNvPr>
          <p:cNvGrpSpPr/>
          <p:nvPr/>
        </p:nvGrpSpPr>
        <p:grpSpPr>
          <a:xfrm>
            <a:off x="2893296" y="2984632"/>
            <a:ext cx="2801534" cy="1141009"/>
            <a:chOff x="2957945" y="58882"/>
            <a:chExt cx="2801534" cy="1141009"/>
          </a:xfrm>
        </p:grpSpPr>
        <p:grpSp>
          <p:nvGrpSpPr>
            <p:cNvPr id="28" name="Grupa 27">
              <a:extLst>
                <a:ext uri="{FF2B5EF4-FFF2-40B4-BE49-F238E27FC236}">
                  <a16:creationId xmlns:a16="http://schemas.microsoft.com/office/drawing/2014/main" id="{E70E733A-7C3F-0E31-6778-4C019FACBAB4}"/>
                </a:ext>
              </a:extLst>
            </p:cNvPr>
            <p:cNvGrpSpPr/>
            <p:nvPr/>
          </p:nvGrpSpPr>
          <p:grpSpPr>
            <a:xfrm>
              <a:off x="2957945" y="58882"/>
              <a:ext cx="2801534" cy="1141009"/>
              <a:chOff x="3380509" y="367146"/>
              <a:chExt cx="2556164" cy="1336964"/>
            </a:xfrm>
          </p:grpSpPr>
          <p:sp>
            <p:nvSpPr>
              <p:cNvPr id="37" name="Prostokąt 36">
                <a:extLst>
                  <a:ext uri="{FF2B5EF4-FFF2-40B4-BE49-F238E27FC236}">
                    <a16:creationId xmlns:a16="http://schemas.microsoft.com/office/drawing/2014/main" id="{F578F2CE-1572-9DB1-64DF-3D85A593A213}"/>
                  </a:ext>
                </a:extLst>
              </p:cNvPr>
              <p:cNvSpPr/>
              <p:nvPr/>
            </p:nvSpPr>
            <p:spPr>
              <a:xfrm>
                <a:off x="3380509" y="568037"/>
                <a:ext cx="2556164" cy="1136073"/>
              </a:xfrm>
              <a:prstGeom prst="rect">
                <a:avLst/>
              </a:prstGeom>
              <a:solidFill>
                <a:srgbClr val="FFEDB3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Prostokąt 37">
                <a:extLst>
                  <a:ext uri="{FF2B5EF4-FFF2-40B4-BE49-F238E27FC236}">
                    <a16:creationId xmlns:a16="http://schemas.microsoft.com/office/drawing/2014/main" id="{DA054501-F45D-EE2E-6E57-AF4B7B1C339F}"/>
                  </a:ext>
                </a:extLst>
              </p:cNvPr>
              <p:cNvSpPr/>
              <p:nvPr/>
            </p:nvSpPr>
            <p:spPr>
              <a:xfrm>
                <a:off x="3380509" y="367146"/>
                <a:ext cx="2556164" cy="230965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Evaluator</a:t>
                </a:r>
              </a:p>
            </p:txBody>
          </p:sp>
        </p:grpSp>
        <p:sp>
          <p:nvSpPr>
            <p:cNvPr id="29" name="Prostokąt 28">
              <a:extLst>
                <a:ext uri="{FF2B5EF4-FFF2-40B4-BE49-F238E27FC236}">
                  <a16:creationId xmlns:a16="http://schemas.microsoft.com/office/drawing/2014/main" id="{A114FB3C-E70F-666C-F279-8DE3CC7012E4}"/>
                </a:ext>
              </a:extLst>
            </p:cNvPr>
            <p:cNvSpPr/>
            <p:nvPr/>
          </p:nvSpPr>
          <p:spPr>
            <a:xfrm>
              <a:off x="2996045" y="318655"/>
              <a:ext cx="2722058" cy="819173"/>
            </a:xfrm>
            <a:prstGeom prst="rect">
              <a:avLst/>
            </a:prstGeom>
            <a:solidFill>
              <a:srgbClr val="FFEDB3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0" bIns="0" rtlCol="0" anchor="t" anchorCtr="0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Measures</a:t>
              </a:r>
            </a:p>
          </p:txBody>
        </p:sp>
        <p:sp>
          <p:nvSpPr>
            <p:cNvPr id="35" name="Prostokąt 34">
              <a:extLst>
                <a:ext uri="{FF2B5EF4-FFF2-40B4-BE49-F238E27FC236}">
                  <a16:creationId xmlns:a16="http://schemas.microsoft.com/office/drawing/2014/main" id="{6F53D978-9C33-A30C-04F2-6980CF7FB6A3}"/>
                </a:ext>
              </a:extLst>
            </p:cNvPr>
            <p:cNvSpPr/>
            <p:nvPr/>
          </p:nvSpPr>
          <p:spPr>
            <a:xfrm>
              <a:off x="3046267" y="555622"/>
              <a:ext cx="845127" cy="519546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36000" rIns="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Confusion matrix-based</a:t>
              </a:r>
            </a:p>
          </p:txBody>
        </p:sp>
        <p:sp>
          <p:nvSpPr>
            <p:cNvPr id="31" name="Prostokąt 30">
              <a:extLst>
                <a:ext uri="{FF2B5EF4-FFF2-40B4-BE49-F238E27FC236}">
                  <a16:creationId xmlns:a16="http://schemas.microsoft.com/office/drawing/2014/main" id="{F3553E01-1D3C-66FD-24B5-1E5104C8BD22}"/>
                </a:ext>
              </a:extLst>
            </p:cNvPr>
            <p:cNvSpPr/>
            <p:nvPr/>
          </p:nvSpPr>
          <p:spPr>
            <a:xfrm>
              <a:off x="3941616" y="557645"/>
              <a:ext cx="845127" cy="519546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1999" tIns="36000" rIns="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Error-based</a:t>
              </a:r>
            </a:p>
          </p:txBody>
        </p:sp>
        <p:sp>
          <p:nvSpPr>
            <p:cNvPr id="32" name="Prostokąt 31">
              <a:extLst>
                <a:ext uri="{FF2B5EF4-FFF2-40B4-BE49-F238E27FC236}">
                  <a16:creationId xmlns:a16="http://schemas.microsoft.com/office/drawing/2014/main" id="{2711DDF2-85D7-C442-DA62-629CA7DC348F}"/>
                </a:ext>
              </a:extLst>
            </p:cNvPr>
            <p:cNvSpPr/>
            <p:nvPr/>
          </p:nvSpPr>
          <p:spPr>
            <a:xfrm>
              <a:off x="4830044" y="557645"/>
              <a:ext cx="845127" cy="519546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36000" rIns="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Temporal</a:t>
              </a:r>
            </a:p>
          </p:txBody>
        </p:sp>
      </p:grp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C94C5C29-63E5-2EB9-609C-A2767CE46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289793"/>
              </p:ext>
            </p:extLst>
          </p:nvPr>
        </p:nvGraphicFramePr>
        <p:xfrm>
          <a:off x="3018856" y="3656989"/>
          <a:ext cx="211628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814">
                  <a:extLst>
                    <a:ext uri="{9D8B030D-6E8A-4147-A177-3AD203B41FA5}">
                      <a16:colId xmlns:a16="http://schemas.microsoft.com/office/drawing/2014/main" val="2913852281"/>
                    </a:ext>
                  </a:extLst>
                </a:gridCol>
                <a:gridCol w="105814">
                  <a:extLst>
                    <a:ext uri="{9D8B030D-6E8A-4147-A177-3AD203B41FA5}">
                      <a16:colId xmlns:a16="http://schemas.microsoft.com/office/drawing/2014/main" val="3320222306"/>
                    </a:ext>
                  </a:extLst>
                </a:gridCol>
              </a:tblGrid>
              <a:tr h="9041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TP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FN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893086"/>
                  </a:ext>
                </a:extLst>
              </a:tr>
              <a:tr h="90417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FP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TN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478717"/>
                  </a:ext>
                </a:extLst>
              </a:tr>
            </a:tbl>
          </a:graphicData>
        </a:graphic>
      </p:graphicFrame>
      <p:pic>
        <p:nvPicPr>
          <p:cNvPr id="41" name="Grafika 40" descr="Zamykać z wypełnieniem pełnym">
            <a:extLst>
              <a:ext uri="{FF2B5EF4-FFF2-40B4-BE49-F238E27FC236}">
                <a16:creationId xmlns:a16="http://schemas.microsoft.com/office/drawing/2014/main" id="{59854D89-383E-3E7C-5230-1BF9478E8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3491" y="3587026"/>
            <a:ext cx="288000" cy="288000"/>
          </a:xfrm>
          <a:prstGeom prst="rect">
            <a:avLst/>
          </a:prstGeom>
        </p:spPr>
      </p:pic>
      <p:pic>
        <p:nvPicPr>
          <p:cNvPr id="43" name="Grafika 42" descr="Klepsydra z przesypanym piaskiem z wypełnieniem pełnym">
            <a:extLst>
              <a:ext uri="{FF2B5EF4-FFF2-40B4-BE49-F238E27FC236}">
                <a16:creationId xmlns:a16="http://schemas.microsoft.com/office/drawing/2014/main" id="{2E261CF0-DF14-9934-112E-7DC2371ACB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2129" y="3587026"/>
            <a:ext cx="288000" cy="288000"/>
          </a:xfrm>
          <a:prstGeom prst="rect">
            <a:avLst/>
          </a:prstGeom>
        </p:spPr>
      </p:pic>
      <p:grpSp>
        <p:nvGrpSpPr>
          <p:cNvPr id="73" name="Grupa 72">
            <a:extLst>
              <a:ext uri="{FF2B5EF4-FFF2-40B4-BE49-F238E27FC236}">
                <a16:creationId xmlns:a16="http://schemas.microsoft.com/office/drawing/2014/main" id="{5551CBC1-8647-B401-76F2-6C3E31962128}"/>
              </a:ext>
            </a:extLst>
          </p:cNvPr>
          <p:cNvGrpSpPr/>
          <p:nvPr/>
        </p:nvGrpSpPr>
        <p:grpSpPr>
          <a:xfrm>
            <a:off x="7283650" y="3406116"/>
            <a:ext cx="540000" cy="540000"/>
            <a:chOff x="6705049" y="1271004"/>
            <a:chExt cx="540000" cy="540000"/>
          </a:xfrm>
        </p:grpSpPr>
        <p:sp>
          <p:nvSpPr>
            <p:cNvPr id="71" name="Prostokąt zaokrąglony 70">
              <a:extLst>
                <a:ext uri="{FF2B5EF4-FFF2-40B4-BE49-F238E27FC236}">
                  <a16:creationId xmlns:a16="http://schemas.microsoft.com/office/drawing/2014/main" id="{B53064C4-BEB1-321E-5EFE-8C2A2E48B6D9}"/>
                </a:ext>
              </a:extLst>
            </p:cNvPr>
            <p:cNvSpPr/>
            <p:nvPr/>
          </p:nvSpPr>
          <p:spPr>
            <a:xfrm>
              <a:off x="6705049" y="1271004"/>
              <a:ext cx="540000" cy="54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1291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pole tekstowe 68">
              <a:extLst>
                <a:ext uri="{FF2B5EF4-FFF2-40B4-BE49-F238E27FC236}">
                  <a16:creationId xmlns:a16="http://schemas.microsoft.com/office/drawing/2014/main" id="{5CDE50D3-7A1E-834F-C794-10951563B1CC}"/>
                </a:ext>
              </a:extLst>
            </p:cNvPr>
            <p:cNvSpPr txBox="1"/>
            <p:nvPr/>
          </p:nvSpPr>
          <p:spPr>
            <a:xfrm>
              <a:off x="6744509" y="1310086"/>
              <a:ext cx="4667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Mini</a:t>
              </a:r>
            </a:p>
            <a:p>
              <a:r>
                <a:rPr lang="en-US" sz="1200" dirty="0"/>
                <a:t>Zinc</a:t>
              </a:r>
            </a:p>
          </p:txBody>
        </p:sp>
      </p:grpSp>
      <p:sp>
        <p:nvSpPr>
          <p:cNvPr id="75" name="Prostokąt zaokrąglony 74">
            <a:extLst>
              <a:ext uri="{FF2B5EF4-FFF2-40B4-BE49-F238E27FC236}">
                <a16:creationId xmlns:a16="http://schemas.microsoft.com/office/drawing/2014/main" id="{CD950930-3469-4E11-B943-94881F1D5FED}"/>
              </a:ext>
            </a:extLst>
          </p:cNvPr>
          <p:cNvSpPr/>
          <p:nvPr/>
        </p:nvSpPr>
        <p:spPr>
          <a:xfrm>
            <a:off x="8135857" y="3407574"/>
            <a:ext cx="786075" cy="540000"/>
          </a:xfrm>
          <a:prstGeom prst="roundRect">
            <a:avLst/>
          </a:prstGeom>
          <a:solidFill>
            <a:schemeClr val="bg1"/>
          </a:solidFill>
          <a:ln>
            <a:solidFill>
              <a:srgbClr val="1291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Gurobi</a:t>
            </a:r>
            <a:r>
              <a:rPr lang="en-US" sz="1200" dirty="0">
                <a:solidFill>
                  <a:schemeClr val="tx1"/>
                </a:solidFill>
              </a:rPr>
              <a:t> Optimizer</a:t>
            </a:r>
          </a:p>
        </p:txBody>
      </p:sp>
      <p:cxnSp>
        <p:nvCxnSpPr>
          <p:cNvPr id="94" name="Łącznik prosty ze strzałką 93">
            <a:extLst>
              <a:ext uri="{FF2B5EF4-FFF2-40B4-BE49-F238E27FC236}">
                <a16:creationId xmlns:a16="http://schemas.microsoft.com/office/drawing/2014/main" id="{5FD81C3B-1F9C-0E2D-585F-6D85D148E882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7823659" y="3676116"/>
            <a:ext cx="287505" cy="7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pole tekstowe 98">
            <a:extLst>
              <a:ext uri="{FF2B5EF4-FFF2-40B4-BE49-F238E27FC236}">
                <a16:creationId xmlns:a16="http://schemas.microsoft.com/office/drawing/2014/main" id="{60A71BA1-4711-56FC-4800-4BF1575AA6F5}"/>
              </a:ext>
            </a:extLst>
          </p:cNvPr>
          <p:cNvSpPr txBox="1"/>
          <p:nvPr/>
        </p:nvSpPr>
        <p:spPr>
          <a:xfrm>
            <a:off x="7113837" y="3088101"/>
            <a:ext cx="1529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External libraries</a:t>
            </a:r>
          </a:p>
        </p:txBody>
      </p:sp>
      <p:cxnSp>
        <p:nvCxnSpPr>
          <p:cNvPr id="126" name="Łącznik prosty ze strzałką 125">
            <a:extLst>
              <a:ext uri="{FF2B5EF4-FFF2-40B4-BE49-F238E27FC236}">
                <a16:creationId xmlns:a16="http://schemas.microsoft.com/office/drawing/2014/main" id="{3DE28EEE-0215-2817-CCCA-E07C15B96466}"/>
              </a:ext>
            </a:extLst>
          </p:cNvPr>
          <p:cNvCxnSpPr>
            <a:cxnSpLocks/>
            <a:stCxn id="7" idx="2"/>
            <a:endCxn id="38" idx="0"/>
          </p:cNvCxnSpPr>
          <p:nvPr/>
        </p:nvCxnSpPr>
        <p:spPr>
          <a:xfrm flipH="1">
            <a:off x="4294063" y="2547049"/>
            <a:ext cx="1638" cy="437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Prostokąt 168">
            <a:extLst>
              <a:ext uri="{FF2B5EF4-FFF2-40B4-BE49-F238E27FC236}">
                <a16:creationId xmlns:a16="http://schemas.microsoft.com/office/drawing/2014/main" id="{4BD7D9E6-0F3A-7418-CA83-9A74B1B889AB}"/>
              </a:ext>
            </a:extLst>
          </p:cNvPr>
          <p:cNvSpPr/>
          <p:nvPr/>
        </p:nvSpPr>
        <p:spPr>
          <a:xfrm>
            <a:off x="1476814" y="5109444"/>
            <a:ext cx="1980000" cy="2878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calculate_leaderboard.py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2" name="Prostokąt 171">
            <a:extLst>
              <a:ext uri="{FF2B5EF4-FFF2-40B4-BE49-F238E27FC236}">
                <a16:creationId xmlns:a16="http://schemas.microsoft.com/office/drawing/2014/main" id="{FFDFF03A-54A2-BE63-6F1A-19705F29FF0A}"/>
              </a:ext>
            </a:extLst>
          </p:cNvPr>
          <p:cNvSpPr/>
          <p:nvPr/>
        </p:nvSpPr>
        <p:spPr>
          <a:xfrm>
            <a:off x="1476814" y="4670747"/>
            <a:ext cx="19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/results</a:t>
            </a:r>
          </a:p>
        </p:txBody>
      </p:sp>
      <p:sp>
        <p:nvSpPr>
          <p:cNvPr id="185" name="Prostokąt 184">
            <a:extLst>
              <a:ext uri="{FF2B5EF4-FFF2-40B4-BE49-F238E27FC236}">
                <a16:creationId xmlns:a16="http://schemas.microsoft.com/office/drawing/2014/main" id="{F6FD0306-5262-57EC-C637-BD0755F8105F}"/>
              </a:ext>
            </a:extLst>
          </p:cNvPr>
          <p:cNvSpPr/>
          <p:nvPr/>
        </p:nvSpPr>
        <p:spPr>
          <a:xfrm>
            <a:off x="3821188" y="6068879"/>
            <a:ext cx="198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leaderboard.csv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0" name="Strzałka w lewo 189">
            <a:extLst>
              <a:ext uri="{FF2B5EF4-FFF2-40B4-BE49-F238E27FC236}">
                <a16:creationId xmlns:a16="http://schemas.microsoft.com/office/drawing/2014/main" id="{1E2BE220-FF4D-B1BB-7282-3F9F710634BA}"/>
              </a:ext>
            </a:extLst>
          </p:cNvPr>
          <p:cNvSpPr/>
          <p:nvPr/>
        </p:nvSpPr>
        <p:spPr>
          <a:xfrm rot="16200000">
            <a:off x="1911263" y="967630"/>
            <a:ext cx="355202" cy="362120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92" name="Grafika 191" descr="Internet z wypełnieniem pełnym">
            <a:extLst>
              <a:ext uri="{FF2B5EF4-FFF2-40B4-BE49-F238E27FC236}">
                <a16:creationId xmlns:a16="http://schemas.microsoft.com/office/drawing/2014/main" id="{BADDE4F9-6236-0255-9A5A-31B26FA4F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0569" y="6651093"/>
            <a:ext cx="914400" cy="914400"/>
          </a:xfrm>
          <a:prstGeom prst="rect">
            <a:avLst/>
          </a:prstGeom>
        </p:spPr>
      </p:pic>
      <p:sp>
        <p:nvSpPr>
          <p:cNvPr id="198" name="pole tekstowe 197">
            <a:extLst>
              <a:ext uri="{FF2B5EF4-FFF2-40B4-BE49-F238E27FC236}">
                <a16:creationId xmlns:a16="http://schemas.microsoft.com/office/drawing/2014/main" id="{DAD11166-4359-9169-6236-D9B7E942724C}"/>
              </a:ext>
            </a:extLst>
          </p:cNvPr>
          <p:cNvSpPr txBox="1"/>
          <p:nvPr/>
        </p:nvSpPr>
        <p:spPr>
          <a:xfrm>
            <a:off x="-243291" y="568246"/>
            <a:ext cx="901241" cy="1171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</a:t>
            </a:r>
          </a:p>
          <a:p>
            <a:pPr algn="r">
              <a:lnSpc>
                <a:spcPct val="85000"/>
              </a:lnSpc>
            </a:pPr>
            <a:r>
              <a:rPr lang="en-US" sz="6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199" name="pole tekstowe 198">
            <a:extLst>
              <a:ext uri="{FF2B5EF4-FFF2-40B4-BE49-F238E27FC236}">
                <a16:creationId xmlns:a16="http://schemas.microsoft.com/office/drawing/2014/main" id="{92C1F164-8F6B-5FF9-6F6C-DBEBAADBC54E}"/>
              </a:ext>
            </a:extLst>
          </p:cNvPr>
          <p:cNvSpPr txBox="1"/>
          <p:nvPr/>
        </p:nvSpPr>
        <p:spPr>
          <a:xfrm>
            <a:off x="-243291" y="4302366"/>
            <a:ext cx="901241" cy="1171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</a:t>
            </a:r>
          </a:p>
          <a:p>
            <a:pPr algn="r">
              <a:lnSpc>
                <a:spcPct val="85000"/>
              </a:lnSpc>
            </a:pPr>
            <a:r>
              <a:rPr lang="en-US" sz="6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200" name="pole tekstowe 199">
            <a:extLst>
              <a:ext uri="{FF2B5EF4-FFF2-40B4-BE49-F238E27FC236}">
                <a16:creationId xmlns:a16="http://schemas.microsoft.com/office/drawing/2014/main" id="{57828D3E-EA2B-0325-C630-19135B1330F0}"/>
              </a:ext>
            </a:extLst>
          </p:cNvPr>
          <p:cNvSpPr txBox="1"/>
          <p:nvPr/>
        </p:nvSpPr>
        <p:spPr>
          <a:xfrm>
            <a:off x="-243291" y="5603551"/>
            <a:ext cx="901241" cy="1171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</a:t>
            </a:r>
          </a:p>
          <a:p>
            <a:pPr algn="r">
              <a:lnSpc>
                <a:spcPct val="85000"/>
              </a:lnSpc>
            </a:pPr>
            <a:r>
              <a:rPr lang="en-US" sz="6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grpSp>
        <p:nvGrpSpPr>
          <p:cNvPr id="106" name="Grupa 105">
            <a:extLst>
              <a:ext uri="{FF2B5EF4-FFF2-40B4-BE49-F238E27FC236}">
                <a16:creationId xmlns:a16="http://schemas.microsoft.com/office/drawing/2014/main" id="{9BF9B143-4207-8424-C0FA-1334F6DD1126}"/>
              </a:ext>
            </a:extLst>
          </p:cNvPr>
          <p:cNvGrpSpPr/>
          <p:nvPr/>
        </p:nvGrpSpPr>
        <p:grpSpPr>
          <a:xfrm>
            <a:off x="1611700" y="9826"/>
            <a:ext cx="2913789" cy="525043"/>
            <a:chOff x="2994408" y="25254"/>
            <a:chExt cx="2913789" cy="525043"/>
          </a:xfrm>
        </p:grpSpPr>
        <p:grpSp>
          <p:nvGrpSpPr>
            <p:cNvPr id="49" name="Grupa 48">
              <a:extLst>
                <a:ext uri="{FF2B5EF4-FFF2-40B4-BE49-F238E27FC236}">
                  <a16:creationId xmlns:a16="http://schemas.microsoft.com/office/drawing/2014/main" id="{1B4CFFCE-7B09-5A21-FB60-531BBF4D94B1}"/>
                </a:ext>
              </a:extLst>
            </p:cNvPr>
            <p:cNvGrpSpPr/>
            <p:nvPr/>
          </p:nvGrpSpPr>
          <p:grpSpPr>
            <a:xfrm>
              <a:off x="2994408" y="25254"/>
              <a:ext cx="2790953" cy="371869"/>
              <a:chOff x="2994408" y="154254"/>
              <a:chExt cx="2790953" cy="371869"/>
            </a:xfrm>
          </p:grpSpPr>
          <p:pic>
            <p:nvPicPr>
              <p:cNvPr id="47" name="Obraz 46" descr="icon.png">
                <a:extLst>
                  <a:ext uri="{FF2B5EF4-FFF2-40B4-BE49-F238E27FC236}">
                    <a16:creationId xmlns:a16="http://schemas.microsoft.com/office/drawing/2014/main" id="{F0B34F8F-AC64-543C-1857-DA22AA946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94408" y="166123"/>
                <a:ext cx="360000" cy="360000"/>
              </a:xfrm>
              <a:prstGeom prst="rect">
                <a:avLst/>
              </a:prstGeom>
            </p:spPr>
          </p:pic>
          <p:sp>
            <p:nvSpPr>
              <p:cNvPr id="48" name="pole tekstowe 47">
                <a:extLst>
                  <a:ext uri="{FF2B5EF4-FFF2-40B4-BE49-F238E27FC236}">
                    <a16:creationId xmlns:a16="http://schemas.microsoft.com/office/drawing/2014/main" id="{6A6CB535-4BDE-CC16-DA63-18E28AED92BB}"/>
                  </a:ext>
                </a:extLst>
              </p:cNvPr>
              <p:cNvSpPr txBox="1"/>
              <p:nvPr/>
            </p:nvSpPr>
            <p:spPr>
              <a:xfrm>
                <a:off x="3296538" y="154254"/>
                <a:ext cx="24888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MPMMine</a:t>
                </a:r>
                <a:r>
                  <a:rPr lang="en-US" dirty="0"/>
                  <a:t> Leaderboard</a:t>
                </a:r>
              </a:p>
            </p:txBody>
          </p:sp>
        </p:grpSp>
        <p:sp>
          <p:nvSpPr>
            <p:cNvPr id="2" name="pole tekstowe 1">
              <a:extLst>
                <a:ext uri="{FF2B5EF4-FFF2-40B4-BE49-F238E27FC236}">
                  <a16:creationId xmlns:a16="http://schemas.microsoft.com/office/drawing/2014/main" id="{3DD6C67E-1582-8FA5-BC97-92116AE48788}"/>
                </a:ext>
              </a:extLst>
            </p:cNvPr>
            <p:cNvSpPr txBox="1"/>
            <p:nvPr/>
          </p:nvSpPr>
          <p:spPr>
            <a:xfrm>
              <a:off x="3311011" y="304076"/>
              <a:ext cx="25971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https://</a:t>
              </a:r>
              <a:r>
                <a:rPr lang="en-US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github.com</a:t>
              </a: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/MPMMine/Leaderboard </a:t>
              </a:r>
            </a:p>
          </p:txBody>
        </p:sp>
      </p:grpSp>
      <p:grpSp>
        <p:nvGrpSpPr>
          <p:cNvPr id="88" name="Grupa 87">
            <a:extLst>
              <a:ext uri="{FF2B5EF4-FFF2-40B4-BE49-F238E27FC236}">
                <a16:creationId xmlns:a16="http://schemas.microsoft.com/office/drawing/2014/main" id="{1FB5D948-BBDA-3DF5-A272-BD6F229CFAC4}"/>
              </a:ext>
            </a:extLst>
          </p:cNvPr>
          <p:cNvGrpSpPr/>
          <p:nvPr/>
        </p:nvGrpSpPr>
        <p:grpSpPr>
          <a:xfrm>
            <a:off x="51154" y="1511818"/>
            <a:ext cx="2860257" cy="2115903"/>
            <a:chOff x="140787" y="1233459"/>
            <a:chExt cx="2860257" cy="2115903"/>
          </a:xfrm>
        </p:grpSpPr>
        <p:cxnSp>
          <p:nvCxnSpPr>
            <p:cNvPr id="103" name="Łącznik prosty ze strzałką 102">
              <a:extLst>
                <a:ext uri="{FF2B5EF4-FFF2-40B4-BE49-F238E27FC236}">
                  <a16:creationId xmlns:a16="http://schemas.microsoft.com/office/drawing/2014/main" id="{F05E3E4F-E2BC-5737-1224-C0BE9EF56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9089" y="3090917"/>
              <a:ext cx="171955" cy="60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Prostokąt 115">
              <a:extLst>
                <a:ext uri="{FF2B5EF4-FFF2-40B4-BE49-F238E27FC236}">
                  <a16:creationId xmlns:a16="http://schemas.microsoft.com/office/drawing/2014/main" id="{3BCA77D8-A198-749C-82BC-6A75507F1A7A}"/>
                </a:ext>
              </a:extLst>
            </p:cNvPr>
            <p:cNvSpPr/>
            <p:nvPr/>
          </p:nvSpPr>
          <p:spPr>
            <a:xfrm>
              <a:off x="140788" y="1432225"/>
              <a:ext cx="2697354" cy="19171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0" bIns="0" rtlCol="0" anchor="t" anchorCtr="0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Adapters</a:t>
              </a:r>
            </a:p>
          </p:txBody>
        </p:sp>
        <p:sp>
          <p:nvSpPr>
            <p:cNvPr id="117" name="Prostokąt 116">
              <a:extLst>
                <a:ext uri="{FF2B5EF4-FFF2-40B4-BE49-F238E27FC236}">
                  <a16:creationId xmlns:a16="http://schemas.microsoft.com/office/drawing/2014/main" id="{2A44410E-CE19-3467-FAA9-CEB9562856A0}"/>
                </a:ext>
              </a:extLst>
            </p:cNvPr>
            <p:cNvSpPr/>
            <p:nvPr/>
          </p:nvSpPr>
          <p:spPr>
            <a:xfrm>
              <a:off x="140787" y="1233459"/>
              <a:ext cx="2697353" cy="2016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/algorithms</a:t>
              </a:r>
            </a:p>
          </p:txBody>
        </p:sp>
        <p:pic>
          <p:nvPicPr>
            <p:cNvPr id="54" name="Grafika 53" descr="Koła zębate z wypełnieniem pełnym">
              <a:extLst>
                <a:ext uri="{FF2B5EF4-FFF2-40B4-BE49-F238E27FC236}">
                  <a16:creationId xmlns:a16="http://schemas.microsoft.com/office/drawing/2014/main" id="{6942039E-6CB3-EE88-8BB3-3A9EB5BDCA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611768" y="1426764"/>
              <a:ext cx="216000" cy="216000"/>
            </a:xfrm>
            <a:prstGeom prst="rect">
              <a:avLst/>
            </a:prstGeom>
          </p:spPr>
        </p:pic>
        <p:sp>
          <p:nvSpPr>
            <p:cNvPr id="118" name="Prostokąt 117">
              <a:extLst>
                <a:ext uri="{FF2B5EF4-FFF2-40B4-BE49-F238E27FC236}">
                  <a16:creationId xmlns:a16="http://schemas.microsoft.com/office/drawing/2014/main" id="{CFD6106E-5F2A-4D9F-3AC5-8DDB936DAA78}"/>
                </a:ext>
              </a:extLst>
            </p:cNvPr>
            <p:cNvSpPr/>
            <p:nvPr/>
          </p:nvSpPr>
          <p:spPr>
            <a:xfrm>
              <a:off x="178829" y="1660479"/>
              <a:ext cx="2628000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sz="1000" dirty="0" err="1">
                  <a:solidFill>
                    <a:schemeClr val="tx1"/>
                  </a:solidFill>
                </a:rPr>
                <a:t>AutoSynthMILP</a:t>
              </a:r>
              <a:endParaRPr lang="en-US" sz="1000" dirty="0">
                <a:solidFill>
                  <a:schemeClr val="tx1"/>
                </a:solidFill>
              </a:endParaRPr>
            </a:p>
            <a:p>
              <a:r>
                <a:rPr lang="en-US" sz="1000" spc="-5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github.com</a:t>
              </a:r>
              <a:r>
                <a:rPr lang="en-US" sz="1000" spc="-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/</a:t>
              </a:r>
              <a:r>
                <a:rPr lang="en-US" sz="1000" spc="-5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MPMMine</a:t>
              </a:r>
              <a:r>
                <a:rPr lang="en-US" sz="1000" spc="-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/</a:t>
              </a:r>
              <a:r>
                <a:rPr lang="en-US" sz="1000" spc="-3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AutoSyncMILP</a:t>
              </a:r>
              <a:r>
                <a:rPr lang="en-US" sz="1000" spc="-3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 (fork)</a:t>
              </a:r>
            </a:p>
          </p:txBody>
        </p:sp>
        <p:sp>
          <p:nvSpPr>
            <p:cNvPr id="122" name="pole tekstowe 121">
              <a:extLst>
                <a:ext uri="{FF2B5EF4-FFF2-40B4-BE49-F238E27FC236}">
                  <a16:creationId xmlns:a16="http://schemas.microsoft.com/office/drawing/2014/main" id="{4E922630-F1A8-4696-C9C3-3B6FC9CB8AF2}"/>
                </a:ext>
              </a:extLst>
            </p:cNvPr>
            <p:cNvSpPr txBox="1"/>
            <p:nvPr/>
          </p:nvSpPr>
          <p:spPr>
            <a:xfrm>
              <a:off x="1429234" y="2547065"/>
              <a:ext cx="227948" cy="3112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540"/>
                </a:lnSpc>
              </a:pPr>
              <a:r>
                <a:rPr lang="en-US" sz="1200" dirty="0"/>
                <a:t>.</a:t>
              </a:r>
            </a:p>
            <a:p>
              <a:pPr>
                <a:lnSpc>
                  <a:spcPts val="540"/>
                </a:lnSpc>
              </a:pPr>
              <a:r>
                <a:rPr lang="en-US" sz="1200" dirty="0"/>
                <a:t>.</a:t>
              </a:r>
            </a:p>
            <a:p>
              <a:pPr>
                <a:lnSpc>
                  <a:spcPts val="540"/>
                </a:lnSpc>
              </a:pPr>
              <a:r>
                <a:rPr lang="en-US" sz="1200" dirty="0"/>
                <a:t>.</a:t>
              </a:r>
            </a:p>
          </p:txBody>
        </p:sp>
        <p:sp>
          <p:nvSpPr>
            <p:cNvPr id="83" name="Prostokąt 82">
              <a:extLst>
                <a:ext uri="{FF2B5EF4-FFF2-40B4-BE49-F238E27FC236}">
                  <a16:creationId xmlns:a16="http://schemas.microsoft.com/office/drawing/2014/main" id="{B2FF87BA-496F-9351-6119-662A5080C5C3}"/>
                </a:ext>
              </a:extLst>
            </p:cNvPr>
            <p:cNvSpPr/>
            <p:nvPr/>
          </p:nvSpPr>
          <p:spPr>
            <a:xfrm>
              <a:off x="185205" y="2135681"/>
              <a:ext cx="2628000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ARNOLD</a:t>
              </a:r>
            </a:p>
            <a:p>
              <a:r>
                <a:rPr lang="en-US" sz="1000" spc="-5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github.com</a:t>
              </a:r>
              <a:r>
                <a:rPr lang="en-US" sz="1000" spc="-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/</a:t>
              </a:r>
              <a:r>
                <a:rPr lang="en-US" sz="1000" spc="-5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MPMMine</a:t>
              </a:r>
              <a:r>
                <a:rPr lang="en-US" sz="1000" spc="-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/</a:t>
              </a:r>
              <a:r>
                <a:rPr lang="en-US" sz="1000" spc="-3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algorithm-</a:t>
              </a:r>
              <a:r>
                <a:rPr lang="en-US" sz="1000" spc="-3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mohitKU</a:t>
              </a:r>
              <a:r>
                <a:rPr lang="en-US" sz="1000" spc="-3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…  (fork)</a:t>
              </a:r>
            </a:p>
          </p:txBody>
        </p:sp>
        <p:sp>
          <p:nvSpPr>
            <p:cNvPr id="86" name="Prostokąt 85">
              <a:extLst>
                <a:ext uri="{FF2B5EF4-FFF2-40B4-BE49-F238E27FC236}">
                  <a16:creationId xmlns:a16="http://schemas.microsoft.com/office/drawing/2014/main" id="{4DE813B3-3C1C-BAD6-E8C6-33A4387A5606}"/>
                </a:ext>
              </a:extLst>
            </p:cNvPr>
            <p:cNvSpPr/>
            <p:nvPr/>
          </p:nvSpPr>
          <p:spPr>
            <a:xfrm>
              <a:off x="175463" y="2859822"/>
              <a:ext cx="2628000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Other algorithm X</a:t>
              </a:r>
            </a:p>
            <a:p>
              <a:r>
                <a:rPr lang="en-US" sz="1000" spc="-5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github.com</a:t>
              </a:r>
              <a:r>
                <a:rPr lang="en-US" sz="1000" spc="-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/</a:t>
              </a:r>
              <a:r>
                <a:rPr lang="en-US" sz="1000" spc="-5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MPMMine</a:t>
              </a:r>
              <a:r>
                <a:rPr lang="en-US" sz="1000" spc="-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/</a:t>
              </a:r>
              <a:r>
                <a:rPr lang="en-US" sz="1000" spc="-3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&lt;</a:t>
              </a:r>
              <a:r>
                <a:rPr lang="en-US" sz="1000" spc="-3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algorithm_X</a:t>
              </a:r>
              <a:r>
                <a:rPr lang="en-US" sz="1000" spc="-3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&gt;  (fork)</a:t>
              </a:r>
            </a:p>
          </p:txBody>
        </p:sp>
      </p:grpSp>
      <p:grpSp>
        <p:nvGrpSpPr>
          <p:cNvPr id="128" name="Grupa 127">
            <a:extLst>
              <a:ext uri="{FF2B5EF4-FFF2-40B4-BE49-F238E27FC236}">
                <a16:creationId xmlns:a16="http://schemas.microsoft.com/office/drawing/2014/main" id="{8C5DB4F8-3F4F-85AB-44DC-ED24B44E3012}"/>
              </a:ext>
            </a:extLst>
          </p:cNvPr>
          <p:cNvGrpSpPr/>
          <p:nvPr/>
        </p:nvGrpSpPr>
        <p:grpSpPr>
          <a:xfrm>
            <a:off x="51149" y="3735355"/>
            <a:ext cx="2697357" cy="498518"/>
            <a:chOff x="-202708" y="5155057"/>
            <a:chExt cx="2697357" cy="498518"/>
          </a:xfrm>
        </p:grpSpPr>
        <p:sp>
          <p:nvSpPr>
            <p:cNvPr id="133" name="Prostokąt 132">
              <a:extLst>
                <a:ext uri="{FF2B5EF4-FFF2-40B4-BE49-F238E27FC236}">
                  <a16:creationId xmlns:a16="http://schemas.microsoft.com/office/drawing/2014/main" id="{AAB0AD11-A883-9A8F-A8A7-1C0E49645EC7}"/>
                </a:ext>
              </a:extLst>
            </p:cNvPr>
            <p:cNvSpPr/>
            <p:nvPr/>
          </p:nvSpPr>
          <p:spPr>
            <a:xfrm>
              <a:off x="-202708" y="5360680"/>
              <a:ext cx="2697353" cy="29289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Prostokąt 133">
              <a:extLst>
                <a:ext uri="{FF2B5EF4-FFF2-40B4-BE49-F238E27FC236}">
                  <a16:creationId xmlns:a16="http://schemas.microsoft.com/office/drawing/2014/main" id="{A8A84627-CB15-0A21-462A-170E0D580AEF}"/>
                </a:ext>
              </a:extLst>
            </p:cNvPr>
            <p:cNvSpPr/>
            <p:nvPr/>
          </p:nvSpPr>
          <p:spPr>
            <a:xfrm>
              <a:off x="-202704" y="5169795"/>
              <a:ext cx="2697353" cy="201600"/>
            </a:xfrm>
            <a:prstGeom prst="rect">
              <a:avLst/>
            </a:prstGeom>
            <a:solidFill>
              <a:srgbClr val="1291EB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Containers</a:t>
              </a:r>
            </a:p>
          </p:txBody>
        </p:sp>
        <p:sp>
          <p:nvSpPr>
            <p:cNvPr id="136" name="Prostokąt 135">
              <a:extLst>
                <a:ext uri="{FF2B5EF4-FFF2-40B4-BE49-F238E27FC236}">
                  <a16:creationId xmlns:a16="http://schemas.microsoft.com/office/drawing/2014/main" id="{955B67B5-E65C-2767-0310-AAE5B08B4C31}"/>
                </a:ext>
              </a:extLst>
            </p:cNvPr>
            <p:cNvSpPr/>
            <p:nvPr/>
          </p:nvSpPr>
          <p:spPr>
            <a:xfrm>
              <a:off x="725348" y="5400000"/>
              <a:ext cx="846000" cy="216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Java</a:t>
              </a:r>
            </a:p>
          </p:txBody>
        </p:sp>
        <p:sp>
          <p:nvSpPr>
            <p:cNvPr id="138" name="Prostokąt 137">
              <a:extLst>
                <a:ext uri="{FF2B5EF4-FFF2-40B4-BE49-F238E27FC236}">
                  <a16:creationId xmlns:a16="http://schemas.microsoft.com/office/drawing/2014/main" id="{A561BC80-11F8-1F49-FAF8-AED76E59213D}"/>
                </a:ext>
              </a:extLst>
            </p:cNvPr>
            <p:cNvSpPr/>
            <p:nvPr/>
          </p:nvSpPr>
          <p:spPr>
            <a:xfrm>
              <a:off x="-162499" y="5400000"/>
              <a:ext cx="846000" cy="216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Python</a:t>
              </a:r>
            </a:p>
          </p:txBody>
        </p:sp>
        <p:sp>
          <p:nvSpPr>
            <p:cNvPr id="139" name="Prostokąt 138">
              <a:extLst>
                <a:ext uri="{FF2B5EF4-FFF2-40B4-BE49-F238E27FC236}">
                  <a16:creationId xmlns:a16="http://schemas.microsoft.com/office/drawing/2014/main" id="{FA49BBC3-5F40-5B49-FBF1-66BAB6CF448B}"/>
                </a:ext>
              </a:extLst>
            </p:cNvPr>
            <p:cNvSpPr/>
            <p:nvPr/>
          </p:nvSpPr>
          <p:spPr>
            <a:xfrm>
              <a:off x="1605791" y="5400000"/>
              <a:ext cx="846000" cy="216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.NET/ mono</a:t>
              </a:r>
            </a:p>
          </p:txBody>
        </p:sp>
        <p:pic>
          <p:nvPicPr>
            <p:cNvPr id="56" name="Grafika 55" descr="Części układanki z wypełnieniem pełnym">
              <a:extLst>
                <a:ext uri="{FF2B5EF4-FFF2-40B4-BE49-F238E27FC236}">
                  <a16:creationId xmlns:a16="http://schemas.microsoft.com/office/drawing/2014/main" id="{1C82EF16-E57E-AE8F-7234-85C571555D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62746" y="5155057"/>
              <a:ext cx="216000" cy="216000"/>
            </a:xfrm>
            <a:prstGeom prst="rect">
              <a:avLst/>
            </a:prstGeom>
          </p:spPr>
        </p:pic>
      </p:grpSp>
      <p:cxnSp>
        <p:nvCxnSpPr>
          <p:cNvPr id="143" name="Łącznik prosty ze strzałką 142">
            <a:extLst>
              <a:ext uri="{FF2B5EF4-FFF2-40B4-BE49-F238E27FC236}">
                <a16:creationId xmlns:a16="http://schemas.microsoft.com/office/drawing/2014/main" id="{C1F08532-0A36-10A8-C478-014C16BD143D}"/>
              </a:ext>
            </a:extLst>
          </p:cNvPr>
          <p:cNvCxnSpPr>
            <a:cxnSpLocks/>
            <a:stCxn id="116" idx="2"/>
          </p:cNvCxnSpPr>
          <p:nvPr/>
        </p:nvCxnSpPr>
        <p:spPr>
          <a:xfrm flipH="1">
            <a:off x="1025435" y="3627712"/>
            <a:ext cx="374388" cy="368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Łącznik prosty ze strzałką 147">
            <a:extLst>
              <a:ext uri="{FF2B5EF4-FFF2-40B4-BE49-F238E27FC236}">
                <a16:creationId xmlns:a16="http://schemas.microsoft.com/office/drawing/2014/main" id="{CBB6507F-D631-CE95-727E-E6B44EEB4BAD}"/>
              </a:ext>
            </a:extLst>
          </p:cNvPr>
          <p:cNvCxnSpPr>
            <a:cxnSpLocks/>
            <a:stCxn id="116" idx="2"/>
            <a:endCxn id="136" idx="0"/>
          </p:cNvCxnSpPr>
          <p:nvPr/>
        </p:nvCxnSpPr>
        <p:spPr>
          <a:xfrm>
            <a:off x="1399832" y="3627716"/>
            <a:ext cx="2373" cy="352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Łącznik prosty ze strzałką 150">
            <a:extLst>
              <a:ext uri="{FF2B5EF4-FFF2-40B4-BE49-F238E27FC236}">
                <a16:creationId xmlns:a16="http://schemas.microsoft.com/office/drawing/2014/main" id="{62AEE682-FACD-68E3-F21F-69F25E166735}"/>
              </a:ext>
            </a:extLst>
          </p:cNvPr>
          <p:cNvCxnSpPr>
            <a:cxnSpLocks/>
            <a:stCxn id="116" idx="2"/>
          </p:cNvCxnSpPr>
          <p:nvPr/>
        </p:nvCxnSpPr>
        <p:spPr>
          <a:xfrm>
            <a:off x="1399832" y="3627712"/>
            <a:ext cx="386215" cy="3367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5" name="Grupa 164">
            <a:extLst>
              <a:ext uri="{FF2B5EF4-FFF2-40B4-BE49-F238E27FC236}">
                <a16:creationId xmlns:a16="http://schemas.microsoft.com/office/drawing/2014/main" id="{0F20EE30-0EDF-AAD1-3033-5756A0C7BCB7}"/>
              </a:ext>
            </a:extLst>
          </p:cNvPr>
          <p:cNvGrpSpPr/>
          <p:nvPr/>
        </p:nvGrpSpPr>
        <p:grpSpPr>
          <a:xfrm>
            <a:off x="6160147" y="5920918"/>
            <a:ext cx="2754000" cy="1550604"/>
            <a:chOff x="6292800" y="4404580"/>
            <a:chExt cx="2754000" cy="1550604"/>
          </a:xfrm>
        </p:grpSpPr>
        <p:pic>
          <p:nvPicPr>
            <p:cNvPr id="161" name="Obraz 160">
              <a:extLst>
                <a:ext uri="{FF2B5EF4-FFF2-40B4-BE49-F238E27FC236}">
                  <a16:creationId xmlns:a16="http://schemas.microsoft.com/office/drawing/2014/main" id="{89472B05-989A-BD85-345A-210BD918E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39359"/>
            <a:stretch>
              <a:fillRect/>
            </a:stretch>
          </p:blipFill>
          <p:spPr>
            <a:xfrm>
              <a:off x="6300000" y="4653448"/>
              <a:ext cx="2736000" cy="1301736"/>
            </a:xfrm>
            <a:prstGeom prst="rect">
              <a:avLst/>
            </a:prstGeom>
            <a:ln w="19050">
              <a:solidFill>
                <a:srgbClr val="00B0F0"/>
              </a:solidFill>
            </a:ln>
          </p:spPr>
        </p:pic>
        <p:sp>
          <p:nvSpPr>
            <p:cNvPr id="164" name="Prostokąt 163">
              <a:extLst>
                <a:ext uri="{FF2B5EF4-FFF2-40B4-BE49-F238E27FC236}">
                  <a16:creationId xmlns:a16="http://schemas.microsoft.com/office/drawing/2014/main" id="{279A202B-36E1-F9D1-5B49-A20BAA113C22}"/>
                </a:ext>
              </a:extLst>
            </p:cNvPr>
            <p:cNvSpPr/>
            <p:nvPr/>
          </p:nvSpPr>
          <p:spPr>
            <a:xfrm>
              <a:off x="6292800" y="4404580"/>
              <a:ext cx="2754000" cy="2526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https://</a:t>
              </a:r>
              <a:r>
                <a:rPr lang="en-US" sz="1000" dirty="0" err="1">
                  <a:solidFill>
                    <a:schemeClr val="tx1"/>
                  </a:solidFill>
                </a:rPr>
                <a:t>mpmmine.streamlit.app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1" name="Strzałka w lewo 190">
            <a:extLst>
              <a:ext uri="{FF2B5EF4-FFF2-40B4-BE49-F238E27FC236}">
                <a16:creationId xmlns:a16="http://schemas.microsoft.com/office/drawing/2014/main" id="{90EEA6D3-9D53-E09F-11F8-3EC3EADFFBAA}"/>
              </a:ext>
            </a:extLst>
          </p:cNvPr>
          <p:cNvSpPr/>
          <p:nvPr/>
        </p:nvSpPr>
        <p:spPr>
          <a:xfrm>
            <a:off x="5704936" y="1713277"/>
            <a:ext cx="1055646" cy="789774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Training data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 err="1">
                <a:solidFill>
                  <a:schemeClr val="tx1"/>
                </a:solidFill>
              </a:rPr>
              <a:t>mpmmine-py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96" name="Strzałka w lewo 195">
            <a:extLst>
              <a:ext uri="{FF2B5EF4-FFF2-40B4-BE49-F238E27FC236}">
                <a16:creationId xmlns:a16="http://schemas.microsoft.com/office/drawing/2014/main" id="{C7FEEB4F-CD19-9FA5-13C2-28124986B12B}"/>
              </a:ext>
            </a:extLst>
          </p:cNvPr>
          <p:cNvSpPr/>
          <p:nvPr/>
        </p:nvSpPr>
        <p:spPr>
          <a:xfrm rot="19328651">
            <a:off x="5581558" y="2493611"/>
            <a:ext cx="1476865" cy="789774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Test data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 err="1">
                <a:solidFill>
                  <a:schemeClr val="tx1"/>
                </a:solidFill>
              </a:rPr>
              <a:t>mpmmine-py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7" name="Strzałka w prawo 206">
            <a:extLst>
              <a:ext uri="{FF2B5EF4-FFF2-40B4-BE49-F238E27FC236}">
                <a16:creationId xmlns:a16="http://schemas.microsoft.com/office/drawing/2014/main" id="{099DEDCD-D41D-4648-5B6A-B578F7CA6D09}"/>
              </a:ext>
            </a:extLst>
          </p:cNvPr>
          <p:cNvSpPr/>
          <p:nvPr/>
        </p:nvSpPr>
        <p:spPr>
          <a:xfrm>
            <a:off x="5721300" y="3310798"/>
            <a:ext cx="1528604" cy="693411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Parse, interpret, check satisfaction</a:t>
            </a:r>
          </a:p>
        </p:txBody>
      </p:sp>
      <p:grpSp>
        <p:nvGrpSpPr>
          <p:cNvPr id="135" name="Grupa 134">
            <a:extLst>
              <a:ext uri="{FF2B5EF4-FFF2-40B4-BE49-F238E27FC236}">
                <a16:creationId xmlns:a16="http://schemas.microsoft.com/office/drawing/2014/main" id="{567E674B-23D9-D9A0-BEA3-094FFB00E9C8}"/>
              </a:ext>
            </a:extLst>
          </p:cNvPr>
          <p:cNvGrpSpPr/>
          <p:nvPr/>
        </p:nvGrpSpPr>
        <p:grpSpPr>
          <a:xfrm>
            <a:off x="6760582" y="1816863"/>
            <a:ext cx="2436556" cy="800767"/>
            <a:chOff x="6869639" y="1656236"/>
            <a:chExt cx="2436556" cy="800767"/>
          </a:xfrm>
        </p:grpSpPr>
        <p:grpSp>
          <p:nvGrpSpPr>
            <p:cNvPr id="206" name="Grupa 205">
              <a:extLst>
                <a:ext uri="{FF2B5EF4-FFF2-40B4-BE49-F238E27FC236}">
                  <a16:creationId xmlns:a16="http://schemas.microsoft.com/office/drawing/2014/main" id="{D0D331EA-3BAF-6D6D-9310-A0836C1801C6}"/>
                </a:ext>
              </a:extLst>
            </p:cNvPr>
            <p:cNvGrpSpPr/>
            <p:nvPr/>
          </p:nvGrpSpPr>
          <p:grpSpPr>
            <a:xfrm>
              <a:off x="6869639" y="1656236"/>
              <a:ext cx="2364006" cy="800767"/>
              <a:chOff x="6947110" y="1050306"/>
              <a:chExt cx="2364006" cy="800767"/>
            </a:xfrm>
          </p:grpSpPr>
          <p:sp>
            <p:nvSpPr>
              <p:cNvPr id="205" name="Prostokąt zaokrąglony 204">
                <a:extLst>
                  <a:ext uri="{FF2B5EF4-FFF2-40B4-BE49-F238E27FC236}">
                    <a16:creationId xmlns:a16="http://schemas.microsoft.com/office/drawing/2014/main" id="{371410A9-C5D3-6DCF-C7D5-EBCE29DF5CDE}"/>
                  </a:ext>
                </a:extLst>
              </p:cNvPr>
              <p:cNvSpPr/>
              <p:nvPr/>
            </p:nvSpPr>
            <p:spPr>
              <a:xfrm>
                <a:off x="6947110" y="1050306"/>
                <a:ext cx="2364006" cy="80076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" name="Grupa 51">
                <a:extLst>
                  <a:ext uri="{FF2B5EF4-FFF2-40B4-BE49-F238E27FC236}">
                    <a16:creationId xmlns:a16="http://schemas.microsoft.com/office/drawing/2014/main" id="{6E63309C-9648-CE14-9045-DBDCE81D2A29}"/>
                  </a:ext>
                </a:extLst>
              </p:cNvPr>
              <p:cNvGrpSpPr/>
              <p:nvPr/>
            </p:nvGrpSpPr>
            <p:grpSpPr>
              <a:xfrm>
                <a:off x="6992829" y="1099319"/>
                <a:ext cx="1798599" cy="553998"/>
                <a:chOff x="6994836" y="350734"/>
                <a:chExt cx="1798599" cy="553998"/>
              </a:xfrm>
            </p:grpSpPr>
            <p:pic>
              <p:nvPicPr>
                <p:cNvPr id="44" name="Obraz 43" descr="icon.png">
                  <a:extLst>
                    <a:ext uri="{FF2B5EF4-FFF2-40B4-BE49-F238E27FC236}">
                      <a16:creationId xmlns:a16="http://schemas.microsoft.com/office/drawing/2014/main" id="{F55A0952-FB70-30F3-25BC-B85C624641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94836" y="401567"/>
                  <a:ext cx="360000" cy="360000"/>
                </a:xfrm>
                <a:prstGeom prst="rect">
                  <a:avLst/>
                </a:prstGeom>
              </p:spPr>
            </p:pic>
            <p:sp>
              <p:nvSpPr>
                <p:cNvPr id="45" name="pole tekstowe 44">
                  <a:extLst>
                    <a:ext uri="{FF2B5EF4-FFF2-40B4-BE49-F238E27FC236}">
                      <a16:creationId xmlns:a16="http://schemas.microsoft.com/office/drawing/2014/main" id="{52383883-2E1F-5378-4414-4A293E29C8AB}"/>
                    </a:ext>
                  </a:extLst>
                </p:cNvPr>
                <p:cNvSpPr txBox="1"/>
                <p:nvPr/>
              </p:nvSpPr>
              <p:spPr>
                <a:xfrm>
                  <a:off x="7323066" y="350734"/>
                  <a:ext cx="1470369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MPMMine</a:t>
                  </a:r>
                  <a:r>
                    <a:rPr lang="en-US" sz="1200" dirty="0"/>
                    <a:t> </a:t>
                  </a:r>
                </a:p>
                <a:p>
                  <a:r>
                    <a:rPr lang="en-US" sz="1200" dirty="0"/>
                    <a:t>benchmark dataset</a:t>
                  </a:r>
                </a:p>
              </p:txBody>
            </p:sp>
          </p:grpSp>
        </p:grpSp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E944FBFA-0598-B6A6-0054-6E8E910CBA58}"/>
                </a:ext>
              </a:extLst>
            </p:cNvPr>
            <p:cNvSpPr txBox="1"/>
            <p:nvPr/>
          </p:nvSpPr>
          <p:spPr>
            <a:xfrm>
              <a:off x="6874119" y="2186206"/>
              <a:ext cx="24320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https://</a:t>
              </a:r>
              <a:r>
                <a:rPr lang="en-US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github.com</a:t>
              </a: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</a:t>
              </a:r>
              <a:r>
                <a:rPr lang="en-US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MPMMine</a:t>
              </a: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</a:t>
              </a:r>
              <a:r>
                <a:rPr lang="en-US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MPMMine</a:t>
              </a: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213" name="Grupa 212">
            <a:extLst>
              <a:ext uri="{FF2B5EF4-FFF2-40B4-BE49-F238E27FC236}">
                <a16:creationId xmlns:a16="http://schemas.microsoft.com/office/drawing/2014/main" id="{4496AA04-9F62-CF8E-1140-97B1FF36EE8C}"/>
              </a:ext>
            </a:extLst>
          </p:cNvPr>
          <p:cNvGrpSpPr/>
          <p:nvPr/>
        </p:nvGrpSpPr>
        <p:grpSpPr>
          <a:xfrm>
            <a:off x="3598400" y="4169252"/>
            <a:ext cx="1330079" cy="892348"/>
            <a:chOff x="3025680" y="3244370"/>
            <a:chExt cx="1330079" cy="892348"/>
          </a:xfrm>
        </p:grpSpPr>
        <p:sp>
          <p:nvSpPr>
            <p:cNvPr id="211" name="Wygięta strzałka 210">
              <a:extLst>
                <a:ext uri="{FF2B5EF4-FFF2-40B4-BE49-F238E27FC236}">
                  <a16:creationId xmlns:a16="http://schemas.microsoft.com/office/drawing/2014/main" id="{1175735D-163C-3FEB-BCEC-9DE1A902F7B1}"/>
                </a:ext>
              </a:extLst>
            </p:cNvPr>
            <p:cNvSpPr/>
            <p:nvPr/>
          </p:nvSpPr>
          <p:spPr>
            <a:xfrm rot="10800000">
              <a:off x="3025680" y="3244370"/>
              <a:ext cx="1330079" cy="892348"/>
            </a:xfrm>
            <a:prstGeom prst="ben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2" name="pole tekstowe 211">
              <a:extLst>
                <a:ext uri="{FF2B5EF4-FFF2-40B4-BE49-F238E27FC236}">
                  <a16:creationId xmlns:a16="http://schemas.microsoft.com/office/drawing/2014/main" id="{F716FADC-786D-E015-4270-B13C2C7964F3}"/>
                </a:ext>
              </a:extLst>
            </p:cNvPr>
            <p:cNvSpPr txBox="1"/>
            <p:nvPr/>
          </p:nvSpPr>
          <p:spPr>
            <a:xfrm>
              <a:off x="3204982" y="3772575"/>
              <a:ext cx="9601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Raw results</a:t>
              </a:r>
            </a:p>
          </p:txBody>
        </p:sp>
      </p:grpSp>
      <p:cxnSp>
        <p:nvCxnSpPr>
          <p:cNvPr id="215" name="Łącznik prosty ze strzałką 214">
            <a:extLst>
              <a:ext uri="{FF2B5EF4-FFF2-40B4-BE49-F238E27FC236}">
                <a16:creationId xmlns:a16="http://schemas.microsoft.com/office/drawing/2014/main" id="{53D30850-F700-5E91-1359-8CCBE63CCE60}"/>
              </a:ext>
            </a:extLst>
          </p:cNvPr>
          <p:cNvCxnSpPr>
            <a:cxnSpLocks/>
            <a:stCxn id="172" idx="2"/>
            <a:endCxn id="169" idx="0"/>
          </p:cNvCxnSpPr>
          <p:nvPr/>
        </p:nvCxnSpPr>
        <p:spPr>
          <a:xfrm>
            <a:off x="2466814" y="4958756"/>
            <a:ext cx="0" cy="150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pole tekstowe 223">
            <a:extLst>
              <a:ext uri="{FF2B5EF4-FFF2-40B4-BE49-F238E27FC236}">
                <a16:creationId xmlns:a16="http://schemas.microsoft.com/office/drawing/2014/main" id="{F8649186-3014-2B69-A6C3-A4B6C864ABA6}"/>
              </a:ext>
            </a:extLst>
          </p:cNvPr>
          <p:cNvSpPr txBox="1"/>
          <p:nvPr/>
        </p:nvSpPr>
        <p:spPr>
          <a:xfrm>
            <a:off x="692718" y="568370"/>
            <a:ext cx="511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Prepare </a:t>
            </a:r>
            <a:r>
              <a:rPr lang="en-US" b="1" dirty="0">
                <a:solidFill>
                  <a:schemeClr val="accent6"/>
                </a:solidFill>
              </a:rPr>
              <a:t>adapter</a:t>
            </a:r>
            <a:r>
              <a:rPr lang="en-US" b="1" dirty="0"/>
              <a:t>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evaluate</a:t>
            </a:r>
            <a:r>
              <a:rPr lang="en-US" b="1" dirty="0"/>
              <a:t> using </a:t>
            </a:r>
            <a:r>
              <a:rPr lang="en-US" b="1" dirty="0" err="1"/>
              <a:t>MPMMine</a:t>
            </a:r>
            <a:endParaRPr lang="en-US" b="1" dirty="0"/>
          </a:p>
        </p:txBody>
      </p:sp>
      <p:sp>
        <p:nvSpPr>
          <p:cNvPr id="225" name="Strzałka w lewo 224">
            <a:extLst>
              <a:ext uri="{FF2B5EF4-FFF2-40B4-BE49-F238E27FC236}">
                <a16:creationId xmlns:a16="http://schemas.microsoft.com/office/drawing/2014/main" id="{AEA33588-D2DF-D0EA-729E-74AA9E26D8AF}"/>
              </a:ext>
            </a:extLst>
          </p:cNvPr>
          <p:cNvSpPr/>
          <p:nvPr/>
        </p:nvSpPr>
        <p:spPr>
          <a:xfrm rot="16200000">
            <a:off x="3207562" y="946978"/>
            <a:ext cx="355202" cy="36212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0" name="pole tekstowe 229">
            <a:extLst>
              <a:ext uri="{FF2B5EF4-FFF2-40B4-BE49-F238E27FC236}">
                <a16:creationId xmlns:a16="http://schemas.microsoft.com/office/drawing/2014/main" id="{E181B0B2-9553-0031-3588-31F83EF7447F}"/>
              </a:ext>
            </a:extLst>
          </p:cNvPr>
          <p:cNvSpPr txBox="1"/>
          <p:nvPr/>
        </p:nvSpPr>
        <p:spPr>
          <a:xfrm>
            <a:off x="692718" y="4303461"/>
            <a:ext cx="511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Aggregate</a:t>
            </a:r>
            <a:r>
              <a:rPr lang="en-US" b="1" dirty="0"/>
              <a:t> results into leaderboard</a:t>
            </a:r>
          </a:p>
        </p:txBody>
      </p:sp>
      <p:grpSp>
        <p:nvGrpSpPr>
          <p:cNvPr id="237" name="Grupa 236">
            <a:extLst>
              <a:ext uri="{FF2B5EF4-FFF2-40B4-BE49-F238E27FC236}">
                <a16:creationId xmlns:a16="http://schemas.microsoft.com/office/drawing/2014/main" id="{E1074539-9108-E188-8B51-6689C06636F4}"/>
              </a:ext>
            </a:extLst>
          </p:cNvPr>
          <p:cNvGrpSpPr/>
          <p:nvPr/>
        </p:nvGrpSpPr>
        <p:grpSpPr>
          <a:xfrm rot="16200000">
            <a:off x="3859706" y="4864077"/>
            <a:ext cx="927018" cy="1423446"/>
            <a:chOff x="3451921" y="3244370"/>
            <a:chExt cx="927018" cy="1423446"/>
          </a:xfrm>
        </p:grpSpPr>
        <p:sp>
          <p:nvSpPr>
            <p:cNvPr id="238" name="Wygięta strzałka 237">
              <a:extLst>
                <a:ext uri="{FF2B5EF4-FFF2-40B4-BE49-F238E27FC236}">
                  <a16:creationId xmlns:a16="http://schemas.microsoft.com/office/drawing/2014/main" id="{F759A848-3C2D-7532-5DDA-35D0DCAD3057}"/>
                </a:ext>
              </a:extLst>
            </p:cNvPr>
            <p:cNvSpPr/>
            <p:nvPr/>
          </p:nvSpPr>
          <p:spPr>
            <a:xfrm rot="10800000">
              <a:off x="3451921" y="3244370"/>
              <a:ext cx="903837" cy="1423446"/>
            </a:xfrm>
            <a:prstGeom prst="ben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9" name="pole tekstowe 238">
              <a:extLst>
                <a:ext uri="{FF2B5EF4-FFF2-40B4-BE49-F238E27FC236}">
                  <a16:creationId xmlns:a16="http://schemas.microsoft.com/office/drawing/2014/main" id="{7BA18011-E827-2FB0-43B7-329E11B4267B}"/>
                </a:ext>
              </a:extLst>
            </p:cNvPr>
            <p:cNvSpPr txBox="1"/>
            <p:nvPr/>
          </p:nvSpPr>
          <p:spPr>
            <a:xfrm rot="5400000">
              <a:off x="3838535" y="3697784"/>
              <a:ext cx="8038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Statistics</a:t>
              </a:r>
            </a:p>
          </p:txBody>
        </p:sp>
      </p:grpSp>
      <p:sp>
        <p:nvSpPr>
          <p:cNvPr id="240" name="Wygięta strzałka 239">
            <a:extLst>
              <a:ext uri="{FF2B5EF4-FFF2-40B4-BE49-F238E27FC236}">
                <a16:creationId xmlns:a16="http://schemas.microsoft.com/office/drawing/2014/main" id="{A2D63B2B-4245-F65E-A604-7F415E0E4A5D}"/>
              </a:ext>
            </a:extLst>
          </p:cNvPr>
          <p:cNvSpPr/>
          <p:nvPr/>
        </p:nvSpPr>
        <p:spPr>
          <a:xfrm flipV="1">
            <a:off x="799536" y="4810190"/>
            <a:ext cx="598931" cy="638903"/>
          </a:xfrm>
          <a:prstGeom prst="bentArrow">
            <a:avLst>
              <a:gd name="adj1" fmla="val 37092"/>
              <a:gd name="adj2" fmla="val 36337"/>
              <a:gd name="adj3" fmla="val 38604"/>
              <a:gd name="adj4" fmla="val 4375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2" name="pole tekstowe 241">
            <a:extLst>
              <a:ext uri="{FF2B5EF4-FFF2-40B4-BE49-F238E27FC236}">
                <a16:creationId xmlns:a16="http://schemas.microsoft.com/office/drawing/2014/main" id="{D0F6D3C6-3FF6-3D38-09F6-5A36AF2CDB25}"/>
              </a:ext>
            </a:extLst>
          </p:cNvPr>
          <p:cNvSpPr txBox="1"/>
          <p:nvPr/>
        </p:nvSpPr>
        <p:spPr>
          <a:xfrm>
            <a:off x="692709" y="5596568"/>
            <a:ext cx="835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Display</a:t>
            </a:r>
            <a:r>
              <a:rPr lang="en-US" b="1" dirty="0"/>
              <a:t> leaderboard report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locally</a:t>
            </a:r>
            <a:r>
              <a:rPr lang="en-US" b="1" dirty="0"/>
              <a:t>…		…or using a </a:t>
            </a:r>
            <a:r>
              <a:rPr lang="en-US" b="1" dirty="0">
                <a:solidFill>
                  <a:srgbClr val="1291EB"/>
                </a:solidFill>
              </a:rPr>
              <a:t>cloud-based</a:t>
            </a:r>
            <a:r>
              <a:rPr lang="en-US" b="1" dirty="0"/>
              <a:t> service</a:t>
            </a:r>
          </a:p>
        </p:txBody>
      </p:sp>
      <p:cxnSp>
        <p:nvCxnSpPr>
          <p:cNvPr id="243" name="Łącznik prosty ze strzałką 242">
            <a:extLst>
              <a:ext uri="{FF2B5EF4-FFF2-40B4-BE49-F238E27FC236}">
                <a16:creationId xmlns:a16="http://schemas.microsoft.com/office/drawing/2014/main" id="{C484EA5C-2332-7847-7A39-7030C1B1F2C6}"/>
              </a:ext>
            </a:extLst>
          </p:cNvPr>
          <p:cNvCxnSpPr>
            <a:cxnSpLocks/>
            <a:stCxn id="185" idx="1"/>
          </p:cNvCxnSpPr>
          <p:nvPr/>
        </p:nvCxnSpPr>
        <p:spPr>
          <a:xfrm flipH="1">
            <a:off x="2769018" y="6212879"/>
            <a:ext cx="10521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Prostokąt 251">
            <a:extLst>
              <a:ext uri="{FF2B5EF4-FFF2-40B4-BE49-F238E27FC236}">
                <a16:creationId xmlns:a16="http://schemas.microsoft.com/office/drawing/2014/main" id="{03E8C04F-8740-E5F5-D7B5-193A244AED62}"/>
              </a:ext>
            </a:extLst>
          </p:cNvPr>
          <p:cNvSpPr/>
          <p:nvPr/>
        </p:nvSpPr>
        <p:spPr>
          <a:xfrm>
            <a:off x="774000" y="6398426"/>
            <a:ext cx="1980000" cy="2526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http://localhost:8051</a:t>
            </a:r>
          </a:p>
        </p:txBody>
      </p:sp>
      <p:grpSp>
        <p:nvGrpSpPr>
          <p:cNvPr id="262" name="Grupa 261">
            <a:extLst>
              <a:ext uri="{FF2B5EF4-FFF2-40B4-BE49-F238E27FC236}">
                <a16:creationId xmlns:a16="http://schemas.microsoft.com/office/drawing/2014/main" id="{C27379A1-81E4-DF3D-8E79-87698C80FC25}"/>
              </a:ext>
            </a:extLst>
          </p:cNvPr>
          <p:cNvGrpSpPr/>
          <p:nvPr/>
        </p:nvGrpSpPr>
        <p:grpSpPr>
          <a:xfrm>
            <a:off x="1611036" y="6725349"/>
            <a:ext cx="1650084" cy="630443"/>
            <a:chOff x="3606665" y="3390576"/>
            <a:chExt cx="1650084" cy="630443"/>
          </a:xfrm>
        </p:grpSpPr>
        <p:sp>
          <p:nvSpPr>
            <p:cNvPr id="263" name="Wygięta strzałka 262">
              <a:extLst>
                <a:ext uri="{FF2B5EF4-FFF2-40B4-BE49-F238E27FC236}">
                  <a16:creationId xmlns:a16="http://schemas.microsoft.com/office/drawing/2014/main" id="{7D7D51D3-4814-BBD8-DAB2-00A641CB321A}"/>
                </a:ext>
              </a:extLst>
            </p:cNvPr>
            <p:cNvSpPr/>
            <p:nvPr/>
          </p:nvSpPr>
          <p:spPr>
            <a:xfrm rot="10800000" flipH="1">
              <a:off x="3606665" y="3390576"/>
              <a:ext cx="1650084" cy="630443"/>
            </a:xfrm>
            <a:prstGeom prst="bentArrow">
              <a:avLst>
                <a:gd name="adj1" fmla="val 33617"/>
                <a:gd name="adj2" fmla="val 38643"/>
                <a:gd name="adj3" fmla="val 41384"/>
                <a:gd name="adj4" fmla="val 4375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4" name="pole tekstowe 263">
              <a:extLst>
                <a:ext uri="{FF2B5EF4-FFF2-40B4-BE49-F238E27FC236}">
                  <a16:creationId xmlns:a16="http://schemas.microsoft.com/office/drawing/2014/main" id="{697D4EF7-EE1C-03E3-AC4C-65F7872A2A61}"/>
                </a:ext>
              </a:extLst>
            </p:cNvPr>
            <p:cNvSpPr txBox="1"/>
            <p:nvPr/>
          </p:nvSpPr>
          <p:spPr>
            <a:xfrm>
              <a:off x="3941314" y="3628525"/>
              <a:ext cx="983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Local report</a:t>
              </a:r>
            </a:p>
          </p:txBody>
        </p:sp>
      </p:grpSp>
      <p:sp>
        <p:nvSpPr>
          <p:cNvPr id="265" name="Strzałka w lewo 264">
            <a:extLst>
              <a:ext uri="{FF2B5EF4-FFF2-40B4-BE49-F238E27FC236}">
                <a16:creationId xmlns:a16="http://schemas.microsoft.com/office/drawing/2014/main" id="{08EF3B0E-3995-CE17-5934-38C9E945DE4C}"/>
              </a:ext>
            </a:extLst>
          </p:cNvPr>
          <p:cNvSpPr/>
          <p:nvPr/>
        </p:nvSpPr>
        <p:spPr>
          <a:xfrm>
            <a:off x="4415941" y="6865580"/>
            <a:ext cx="1642769" cy="472433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Cloud report</a:t>
            </a:r>
          </a:p>
        </p:txBody>
      </p:sp>
      <p:sp>
        <p:nvSpPr>
          <p:cNvPr id="183" name="Prostokąt 182">
            <a:extLst>
              <a:ext uri="{FF2B5EF4-FFF2-40B4-BE49-F238E27FC236}">
                <a16:creationId xmlns:a16="http://schemas.microsoft.com/office/drawing/2014/main" id="{C08CAE69-7764-638E-A53C-F115381015F2}"/>
              </a:ext>
            </a:extLst>
          </p:cNvPr>
          <p:cNvSpPr/>
          <p:nvPr/>
        </p:nvSpPr>
        <p:spPr>
          <a:xfrm>
            <a:off x="775047" y="6104022"/>
            <a:ext cx="1980000" cy="28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serve_leaderboard.py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17465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Aerodynamiczny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Motyw pakietu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2817</TotalTime>
  <Words>187</Words>
  <Application>Microsoft Macintosh PowerPoint</Application>
  <PresentationFormat>Niestandardowy</PresentationFormat>
  <Paragraphs>60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Motyw pakietu Office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Tomasz Pawlak</dc:creator>
  <cp:lastModifiedBy>Tomasz Pawlak</cp:lastModifiedBy>
  <cp:revision>56</cp:revision>
  <cp:lastPrinted>2026-09-21T09:33:02Z</cp:lastPrinted>
  <dcterms:created xsi:type="dcterms:W3CDTF">2026-09-16T15:06:41Z</dcterms:created>
  <dcterms:modified xsi:type="dcterms:W3CDTF">2026-09-21T09:34:01Z</dcterms:modified>
</cp:coreProperties>
</file>